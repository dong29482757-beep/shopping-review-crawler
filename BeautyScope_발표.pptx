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건수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Sheet1!$A$2:$A$4</c:f>
              <c:strCache>
                <c:ptCount val="3"/>
                <c:pt idx="0">
                  <c:v>쿠팡</c:v>
                </c:pt>
                <c:pt idx="1">
                  <c:v>무신사</c:v>
                </c:pt>
                <c:pt idx="2">
                  <c:v>올리브영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86379</c:v>
                </c:pt>
                <c:pt idx="1">
                  <c:v>230870</c:v>
                </c:pt>
                <c:pt idx="2">
                  <c:v>221525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Sheet1!$A$2:$A$5</c:f>
              <c:strCache>
                <c:ptCount val="4"/>
                <c:pt idx="0">
                  <c:v>ML
(TF-IDF+LogReg)</c:v>
                </c:pt>
                <c:pt idx="1">
                  <c:v>DL
(numpy FFNN)</c:v>
                </c:pt>
                <c:pt idx="2">
                  <c:v>LSTM
(PyTorch)</c:v>
                </c:pt>
                <c:pt idx="3">
                  <c:v>KoELECTRA
(파인튜닝)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0.73</c:v>
                </c:pt>
                <c:pt idx="1">
                  <c:v>0.754</c:v>
                </c:pt>
                <c:pt idx="2">
                  <c:v>0.734</c:v>
                </c:pt>
                <c:pt idx="3">
                  <c:v>0.772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macro F1</c:v>
                </c:pt>
              </c:strCache>
            </c:strRef>
          </c:tx>
          <c:spPr>
            <a:solidFill>
              <a:srgbClr val="F96167"/>
            </a:solidFill>
          </c:spPr>
          <c:cat>
            <c:strRef>
              <c:f>Sheet1!$A$2:$A$5</c:f>
              <c:strCache>
                <c:ptCount val="4"/>
                <c:pt idx="0">
                  <c:v>ML
(TF-IDF+LogReg)</c:v>
                </c:pt>
                <c:pt idx="1">
                  <c:v>DL
(numpy FFNN)</c:v>
                </c:pt>
                <c:pt idx="2">
                  <c:v>LSTM
(PyTorch)</c:v>
                </c:pt>
                <c:pt idx="3">
                  <c:v>KoELECTRA
(파인튜닝)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0.668</c:v>
                </c:pt>
                <c:pt idx="1">
                  <c:v>0.664</c:v>
                </c:pt>
                <c:pt idx="2">
                  <c:v>0.671</c:v>
                </c:pt>
                <c:pt idx="3">
                  <c:v>0.66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보정 전</c:v>
                </c:pt>
              </c:strCache>
            </c:strRef>
          </c:tx>
          <c:spPr>
            <a:solidFill>
              <a:srgbClr val="555A6E"/>
            </a:solidFill>
          </c:spPr>
          <c:cat>
            <c:strRef>
              <c:f>Sheet1!$A$2:$A$5</c:f>
              <c:strCache>
                <c:ptCount val="4"/>
                <c:pt idx="0">
                  <c:v>ML accuracy</c:v>
                </c:pt>
                <c:pt idx="1">
                  <c:v>ML macro F1</c:v>
                </c:pt>
                <c:pt idx="2">
                  <c:v>DL accuracy</c:v>
                </c:pt>
                <c:pt idx="3">
                  <c:v>DL macro F1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0.806</c:v>
                </c:pt>
                <c:pt idx="1">
                  <c:v>0.626</c:v>
                </c:pt>
                <c:pt idx="2">
                  <c:v>0.89</c:v>
                </c:pt>
                <c:pt idx="3">
                  <c:v>0.712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보정 후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Sheet1!$A$2:$A$5</c:f>
              <c:strCache>
                <c:ptCount val="4"/>
                <c:pt idx="0">
                  <c:v>ML accuracy</c:v>
                </c:pt>
                <c:pt idx="1">
                  <c:v>ML macro F1</c:v>
                </c:pt>
                <c:pt idx="2">
                  <c:v>DL accuracy</c:v>
                </c:pt>
                <c:pt idx="3">
                  <c:v>DL macro F1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0.909</c:v>
                </c:pt>
                <c:pt idx="1">
                  <c:v>0.675</c:v>
                </c:pt>
                <c:pt idx="2">
                  <c:v>0.92</c:v>
                </c:pt>
                <c:pt idx="3">
                  <c:v>0.711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Georgia"/>
              </a:rPr>
              <a:t>BeautyScope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5468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화장품 리뷰 538,774건으로 만든 감성 분석 + 속성기반 리포트 서비스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CADCFC"/>
                </a:solidFill>
                <a:latin typeface="Calibri"/>
              </a:rPr>
              <a:t>쿠팡 → 무신사·올리브영 추가 수집 → ML/DL 감성분류 → 속성분석(ABSA) → Streamlit 배포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937760"/>
            <a:ext cx="1645920" cy="411480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데이터 수집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937760"/>
            <a:ext cx="2103120" cy="411480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모델 학습 (ML+DL)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0" y="4937760"/>
            <a:ext cx="1828800" cy="411480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속성분석(ABSA)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4937760"/>
            <a:ext cx="1828800" cy="411480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Streamlit 배포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Georgia"/>
              </a:rPr>
              <a:t>어떤 문제를 ML/DL로 풀었나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1295C"/>
                </a:solidFill>
                <a:latin typeface="Calibri"/>
              </a:rPr>
              <a:t>•  리뷰가 상품당 수백~수천 건 — 사람이 다 읽고 판단하기 어렵다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1295C"/>
                </a:solidFill>
                <a:latin typeface="Calibri"/>
              </a:rPr>
              <a:t>•  별점만 봐서는 "왜" 좋고 나쁜지, 속성별로(보습/향/트러블) 어떤지 알 수 없다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200400"/>
            <a:ext cx="5394960" cy="292608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42900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① 감성 분류 (ML+DL)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31920"/>
            <a:ext cx="48463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CADCFC"/>
                </a:solidFill>
                <a:latin typeface="Calibri"/>
              </a:rPr>
              <a:t>리뷰 텍스트 → 긍정/중립/부정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CADCFC"/>
                </a:solidFill>
                <a:latin typeface="Calibri"/>
              </a:rPr>
              <a:t>ML: TF-IDF+로지스틱회귀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CADCFC"/>
                </a:solidFill>
                <a:latin typeface="Calibri"/>
              </a:rPr>
              <a:t>DL: numpy 직접구현 신경망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CADCFC"/>
                </a:solidFill>
                <a:latin typeface="Calibri"/>
              </a:rPr>
              <a:t>(+LSTM/Transformer 비교실험)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200400"/>
            <a:ext cx="5212080" cy="2926080"/>
          </a:xfrm>
          <a:prstGeom prst="roundRect">
            <a:avLst>
              <a:gd name="adj" fmla="val 6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34290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② 속성기반 감성분석 (ABSA)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931920"/>
            <a:ext cx="46634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리뷰를 속성별로 쪼개서 분석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"보습력은 좋은데 향은 별로다"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같은 세부 정보를 추출해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구매 의사결정을 지원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Georgia"/>
              </a:rPr>
              <a:t>데이터 수집 — 처음엔 쿠팡만, 더 모았다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783080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Calibri"/>
              </a:rPr>
              <a:t>1차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2240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쿠팡 크롤링</a:t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(20개 키워드)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324612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86,379건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55263" y="2606040"/>
            <a:ext cx="118872" cy="274320"/>
          </a:xfrm>
          <a:prstGeom prst="rightArrow">
            <a:avLst/>
          </a:prstGeom>
          <a:solidFill>
            <a:srgbClr val="555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83280" y="155448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783080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Calibri"/>
              </a:rPr>
              <a:t>2차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194560"/>
            <a:ext cx="2240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+ 무신사</a:t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(동료 크롤링 데이터)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324612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230,870건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98464" y="2606040"/>
            <a:ext cx="118872" cy="274320"/>
          </a:xfrm>
          <a:prstGeom prst="rightArrow">
            <a:avLst/>
          </a:prstGeom>
          <a:solidFill>
            <a:srgbClr val="555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26480" y="155448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783080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Calibri"/>
              </a:rPr>
              <a:t>2차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194560"/>
            <a:ext cx="2240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+ 올리브영</a:t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(JSONL 4개 파일)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24612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221,525건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741664" y="2606040"/>
            <a:ext cx="118872" cy="274320"/>
          </a:xfrm>
          <a:prstGeom prst="rightArrow">
            <a:avLst/>
          </a:prstGeom>
          <a:solidFill>
            <a:srgbClr val="555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869680" y="155448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59" y="1783080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Calibri"/>
              </a:rPr>
              <a:t>최종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59" y="2194560"/>
            <a:ext cx="2240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스키마/라벨 통일</a:t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+ 중복 제거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59" y="324612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538,774건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29768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데이터 장점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7548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50">
                <a:solidFill>
                  <a:srgbClr val="21295C"/>
                </a:solidFill>
                <a:latin typeface="Calibri"/>
              </a:rPr>
              <a:t>•  별점 기반 라벨이 이미 존재 → 별도 수작업 레이블링 불필요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21295C"/>
                </a:solidFill>
                <a:latin typeface="Calibri"/>
              </a:rPr>
              <a:t>•  화장품 도메인 특화, 2015~2026년 10년치 데이터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21295C"/>
                </a:solidFill>
                <a:latin typeface="Calibri"/>
              </a:rPr>
              <a:t>•  20개+ 카테고리로 비교 분석 용이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429768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최종 분포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6217920" y="4663440"/>
          <a:ext cx="5394960" cy="1737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Georgia"/>
              </a:rPr>
              <a:t>데이터 준비 — 가장 까다로웠던 단계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10881360" cy="950976"/>
          </a:xfrm>
          <a:prstGeom prst="roundRect">
            <a:avLst>
              <a:gd name="adj" fmla="val 8000"/>
            </a:avLst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1508760"/>
            <a:ext cx="2423160" cy="384048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150" b="1">
                <a:solidFill>
                  <a:srgbClr val="FFFFFF"/>
                </a:solidFill>
              </a:rPr>
              <a:t>스키마 불일치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1444752"/>
            <a:ext cx="365760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55A6E"/>
                </a:solidFill>
                <a:latin typeface="Calibri"/>
              </a:rPr>
              <a:t>쿠팡/무신사/올리브영 컬럼명이 전부 다름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0" y="1444752"/>
            <a:ext cx="416052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E2761"/>
                </a:solidFill>
                <a:latin typeface="Calibri"/>
              </a:rPr>
              <a:t>해결 → 플랫폼별 로더로 공통 스키마 변환 후 병합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414015"/>
            <a:ext cx="10881360" cy="950976"/>
          </a:xfrm>
          <a:prstGeom prst="roundRect">
            <a:avLst>
              <a:gd name="adj" fmla="val 8000"/>
            </a:avLst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2551175"/>
            <a:ext cx="2423160" cy="384048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150" b="1">
                <a:solidFill>
                  <a:srgbClr val="FFFFFF"/>
                </a:solidFill>
              </a:rPr>
              <a:t>라벨 기준 불일치 (핵심)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2487168"/>
            <a:ext cx="365760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55A6E"/>
                </a:solidFill>
                <a:latin typeface="Calibri"/>
              </a:rPr>
              <a:t>무신사 sentiment가 별점 아닌 텍스트분석 기반 → 5점 리뷰의 21%가 '부정'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487168"/>
            <a:ext cx="416052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E2761"/>
                </a:solidFill>
                <a:latin typeface="Calibri"/>
              </a:rPr>
              <a:t>해결 → 전체 데이터의 sentiment를 별점에서 일괄 재계산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456431"/>
            <a:ext cx="10881360" cy="950976"/>
          </a:xfrm>
          <a:prstGeom prst="roundRect">
            <a:avLst>
              <a:gd name="adj" fmla="val 8000"/>
            </a:avLst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8" y="3593591"/>
            <a:ext cx="2423160" cy="384048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150" b="1">
                <a:solidFill>
                  <a:srgbClr val="FFFFFF"/>
                </a:solidFill>
              </a:rPr>
              <a:t>인코딩 깨짐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3529583"/>
            <a:ext cx="365760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55A6E"/>
                </a:solidFill>
                <a:latin typeface="Calibri"/>
              </a:rPr>
              <a:t>무신사 CSV 기본 인코딩으로 읽으면 한글 깨짐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3529583"/>
            <a:ext cx="416052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E2761"/>
                </a:solidFill>
                <a:latin typeface="Calibri"/>
              </a:rPr>
              <a:t>해결 → encoding='utf-8-sig' 명시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498847"/>
            <a:ext cx="10881360" cy="950976"/>
          </a:xfrm>
          <a:prstGeom prst="roundRect">
            <a:avLst>
              <a:gd name="adj" fmla="val 8000"/>
            </a:avLst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8" y="4636007"/>
            <a:ext cx="2423160" cy="384048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150" b="1">
                <a:solidFill>
                  <a:srgbClr val="FFFFFF"/>
                </a:solidFill>
              </a:rPr>
              <a:t>클래스 불균형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4571999"/>
            <a:ext cx="365760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55A6E"/>
                </a:solidFill>
                <a:latin typeface="Calibri"/>
              </a:rPr>
              <a:t>긍정 86.7% — 그대로 학습하면 다 긍정 찍어도 86%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4571999"/>
            <a:ext cx="416052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E2761"/>
                </a:solidFill>
                <a:latin typeface="Calibri"/>
              </a:rPr>
              <a:t>해결 → 부정/중립 전량 + 긍정은 2배 규모로만 다운샘플링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541263"/>
            <a:ext cx="10881360" cy="950976"/>
          </a:xfrm>
          <a:prstGeom prst="roundRect">
            <a:avLst>
              <a:gd name="adj" fmla="val 8000"/>
            </a:avLst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8" y="5678423"/>
            <a:ext cx="2423160" cy="384048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150" b="1">
                <a:solidFill>
                  <a:srgbClr val="FFFFFF"/>
                </a:solidFill>
              </a:rPr>
              <a:t>불용어/형태소 미처리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5614415"/>
            <a:ext cx="365760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55A6E"/>
                </a:solidFill>
                <a:latin typeface="Calibri"/>
              </a:rPr>
              <a:t>정규식으로만 잘라서 조사가 토큰에 섞임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5614415"/>
            <a:ext cx="416052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E2761"/>
                </a:solidFill>
                <a:latin typeface="Calibri"/>
              </a:rPr>
              <a:t>해결 → Okt 형태소분석 + 어간정규화 + 불용어 제거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AI(Claude Code)로 어떻게 구현했나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577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50">
                <a:solidFill>
                  <a:srgbClr val="FFFFFF"/>
                </a:solidFill>
                <a:latin typeface="Calibri"/>
              </a:rPr>
              <a:t>•  전처리·모델·Streamlit 앱 코드를 페어 프로그래밍 방식으로 작성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FFFFFF"/>
                </a:solidFill>
                <a:latin typeface="Calibri"/>
              </a:rPr>
              <a:t>•  라벨 불일치를 "느낌"이 아니라 crosstab 코드를 직접 돌려 수치로 진단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FFFFFF"/>
                </a:solidFill>
                <a:latin typeface="Calibri"/>
              </a:rPr>
              <a:t>•  막힐 때마다(PyTorch 미설치 등) 대안을 같이 설계하고 바로 실행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FFFFFF"/>
                </a:solidFill>
                <a:latin typeface="Calibri"/>
              </a:rPr>
              <a:t>•  모델을 만들고 끝내지 않고, 실제 분포로 재평가해서 숨은 문제를 찾아냄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371600"/>
            <a:ext cx="5120640" cy="4846320"/>
          </a:xfrm>
          <a:prstGeom prst="roundRect">
            <a:avLst>
              <a:gd name="adj" fmla="val 4000"/>
            </a:avLst>
          </a:prstGeom>
          <a:solidFill>
            <a:srgbClr val="283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64592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96167"/>
                </a:solidFill>
                <a:latin typeface="Calibri"/>
              </a:rPr>
              <a:t>예상치 못한 벽: PyTorch 설치 실패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286000"/>
            <a:ext cx="43891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FFFFFF"/>
                </a:solidFill>
                <a:latin typeface="Calibri"/>
              </a:rPr>
              <a:t>환경의 Python이 3.14라서 PyTorch/TensorFlow</a:t>
            </a:r>
          </a:p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FFFFFF"/>
                </a:solidFill>
                <a:latin typeface="Calibri"/>
              </a:rPr>
              <a:t>휠이 아직 배포되지 않음</a:t>
            </a:r>
          </a:p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FFFFFF"/>
                </a:solidFill>
                <a:latin typeface="Calibri"/>
              </a:rPr>
              <a:t>→ pip install torch: No matching distribution</a:t>
            </a:r>
          </a:p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FFFFFF"/>
                </a:solidFill>
                <a:latin typeface="Calibri"/>
              </a:rPr>
              <a:t>1단계 해결: numpy로 신경망 직접 구현</a:t>
            </a:r>
          </a:p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FFFFFF"/>
                </a:solidFill>
                <a:latin typeface="Calibri"/>
              </a:rPr>
              <a:t>2단계 해결: winget으로 Python 3.11을 따로</a:t>
            </a:r>
          </a:p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FFFFFF"/>
                </a:solidFill>
                <a:latin typeface="Calibri"/>
              </a:rPr>
              <a:t>설치해 별도 venv 구성 → 실제 PyTorch</a:t>
            </a:r>
          </a:p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FFFFFF"/>
                </a:solidFill>
                <a:latin typeface="Calibri"/>
              </a:rPr>
              <a:t>LSTM/Transformer까지 검증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Georgia"/>
              </a:rPr>
              <a:t>DL 모델 — numpy로 직접 구현한 신경망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63040"/>
            <a:ext cx="2331720" cy="1463040"/>
          </a:xfrm>
          <a:prstGeom prst="roundRect">
            <a:avLst>
              <a:gd name="adj" fmla="val 8000"/>
            </a:avLst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2761"/>
                </a:solidFill>
              </a:rPr>
              <a:t>입력</a:t>
            </a:r>
          </a:p>
          <a:p>
            <a:pPr algn="ctr"/>
            <a:r>
              <a:rPr sz="1300" b="1">
                <a:solidFill>
                  <a:srgbClr val="1E2761"/>
                </a:solidFill>
              </a:rPr>
              <a:t>TF-IDF(형태소)</a:t>
            </a:r>
          </a:p>
          <a:p>
            <a:pPr algn="ctr"/>
            <a:r>
              <a:rPr sz="1300" b="1">
                <a:solidFill>
                  <a:srgbClr val="1E2761"/>
                </a:solidFill>
              </a:rPr>
              <a:t>15,000차원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172968" y="2084832"/>
            <a:ext cx="329184" cy="219456"/>
          </a:xfrm>
          <a:prstGeom prst="rightArrow">
            <a:avLst/>
          </a:prstGeom>
          <a:solidFill>
            <a:srgbClr val="555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20439" y="1463040"/>
            <a:ext cx="2331720" cy="146304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Dense 128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ReLU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870447" y="2084832"/>
            <a:ext cx="329184" cy="219456"/>
          </a:xfrm>
          <a:prstGeom prst="rightArrow">
            <a:avLst/>
          </a:prstGeom>
          <a:solidFill>
            <a:srgbClr val="555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2331720" cy="146304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Dense 64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ReLU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567928" y="2084832"/>
            <a:ext cx="329184" cy="219456"/>
          </a:xfrm>
          <a:prstGeom prst="rightArrow">
            <a:avLst/>
          </a:prstGeom>
          <a:solidFill>
            <a:srgbClr val="555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15400" y="1463040"/>
            <a:ext cx="2331720" cy="1463040"/>
          </a:xfrm>
          <a:prstGeom prst="roundRect">
            <a:avLst>
              <a:gd name="adj" fmla="val 8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Dense 3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Softmax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918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학습 방식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03320"/>
            <a:ext cx="51206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21295C"/>
                </a:solidFill>
                <a:latin typeface="Calibri"/>
              </a:rPr>
              <a:t>•  Mini-batch SGD + Momentum(0.9), L2 정규화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1295C"/>
                </a:solidFill>
                <a:latin typeface="Calibri"/>
              </a:rPr>
              <a:t>•  learning rate 0.08 → epoch마다 0.92배 감소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1295C"/>
                </a:solidFill>
                <a:latin typeface="Calibri"/>
              </a:rPr>
              <a:t>•  batch size 256, 15 epoch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1295C"/>
                </a:solidFill>
                <a:latin typeface="Calibri"/>
              </a:rPr>
              <a:t>•  scipy sparse(TF-IDF) × dense 가중치 행렬곱을
backprop 수식에 맞춰 직접 구현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32918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추가 실험 (별도 venv, PyTorch)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70332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21295C"/>
                </a:solidFill>
                <a:latin typeface="Calibri"/>
              </a:rPr>
              <a:t>•  LSTM: Embedding → BiLSTM(128) → Dense(3)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1295C"/>
                </a:solidFill>
                <a:latin typeface="Calibri"/>
              </a:rPr>
              <a:t>•  KoELECTRA-small 파인튜닝 (사전학습 모델)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1295C"/>
                </a:solidFill>
                <a:latin typeface="Calibri"/>
              </a:rPr>
              <a:t>•  winget으로 Python 3.11 별도 설치 후 venv 구성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502920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5166360"/>
            <a:ext cx="4754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55A6E"/>
                </a:solidFill>
                <a:latin typeface="Calibri"/>
              </a:rPr>
              <a:t>관찰: LSTM이 순서 정보를 학습할 수 있는데도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55A6E"/>
                </a:solidFill>
                <a:latin typeface="Calibri"/>
              </a:rPr>
              <a:t>TF-IDF 기반 모델과 성능이 비슷함 — 짧은 리뷰는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55A6E"/>
                </a:solidFill>
                <a:latin typeface="Calibri"/>
              </a:rPr>
              <a:t>어휘 자체가 이미 강한 신호였다는 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Georgia"/>
              </a:rPr>
              <a:t>4개 모델 비교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40080" y="1463040"/>
          <a:ext cx="694944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863840" y="155448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결론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2011680"/>
            <a:ext cx="3840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21295C"/>
                </a:solidFill>
                <a:latin typeface="Calibri"/>
              </a:rPr>
              <a:t>•  KoELECTRA가 데이터 1/7만 쓰고도
최고 accuracy → 사전학습 효과 확인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1295C"/>
                </a:solidFill>
                <a:latin typeface="Calibri"/>
              </a:rPr>
              <a:t>•  LSTM은 순서 정보 활용 기대했으나
차이 없음 (학습 데이터 규모 한계)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1295C"/>
                </a:solidFill>
                <a:latin typeface="Calibri"/>
              </a:rPr>
              <a:t>•  구조보다 어휘 신호 자체가 강한
도메인이라는 결론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577840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76072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555A6E"/>
                </a:solidFill>
                <a:latin typeface="Calibri"/>
              </a:rPr>
              <a:t>KoELECTRA: 20,000건 서브샘플 · 2 epoch (CPU 환경 시간 제약, GPU면 격차 더 벌어질 것으로 예상)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Georgia"/>
              </a:rPr>
              <a:t>모델 문제점 발견 — 실제 분포로 재평가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50">
                <a:solidFill>
                  <a:srgbClr val="21295C"/>
                </a:solidFill>
                <a:latin typeface="Calibri"/>
              </a:rPr>
              <a:t>•  학습 시 클래스 밸런싱(다운샘플링)을 했는데, 실제 운영 비율(positive 86.7%)과 다름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21295C"/>
                </a:solidFill>
                <a:latin typeface="Calibri"/>
              </a:rPr>
              <a:t>•  실제 분포 샘플로 재평가하니 neutral precision이 0.20까지 떨어짐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21295C"/>
                </a:solidFill>
                <a:latin typeface="Calibri"/>
              </a:rPr>
              <a:t>•  = 모델이 "중립"이라고 예측한 것 중 80%가 틀림 (label shift 문제)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200400"/>
            <a:ext cx="10881360" cy="822960"/>
          </a:xfrm>
          <a:prstGeom prst="roundRect">
            <a:avLst>
              <a:gd name="adj" fmla="val 1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해결: p_real(y|x) ∝ p_model(y|x) × (실제 클래스 비율 / 학습 클래스 비율) — 재학습 없이 추론 단계에서 확률 보정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371600" y="4297680"/>
          <a:ext cx="941832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"서비스가 실용성이 없다" — 피드백과 전환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577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50">
                <a:solidFill>
                  <a:srgbClr val="FFFFFF"/>
                </a:solidFill>
                <a:latin typeface="Calibri"/>
              </a:rPr>
              <a:t>•  기존: 리뷰 텍스트를 입력하면 감성을 알려주는 데모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FFFFFF"/>
                </a:solidFill>
                <a:latin typeface="Calibri"/>
              </a:rPr>
              <a:t>•  문제: 이미 써본 리뷰를 사람이 직접 타이핑할 이유가 없음 — 실용성 없음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FFFFFF"/>
                </a:solidFill>
                <a:latin typeface="Calibri"/>
              </a:rPr>
              <a:t>•  전환: "상품 리포트" — 상품 검색 → 속성별(8개) 장단점 + 대표 리뷰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371600"/>
            <a:ext cx="5120640" cy="4846320"/>
          </a:xfrm>
          <a:prstGeom prst="roundRect">
            <a:avLst>
              <a:gd name="adj" fmla="val 4000"/>
            </a:avLst>
          </a:prstGeom>
          <a:solidFill>
            <a:srgbClr val="283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64592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96167"/>
                </a:solidFill>
                <a:latin typeface="Calibri"/>
              </a:rPr>
              <a:t>실제 발견한 예시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286000"/>
            <a:ext cx="43891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 i="0">
                <a:solidFill>
                  <a:srgbClr val="FFFFFF"/>
                </a:solidFill>
                <a:latin typeface="Calibri"/>
              </a:rPr>
              <a:t>어떤 토너의 전체 평점: 4.9 / 5 (거의 만점)</a:t>
            </a:r>
          </a:p>
          <a:p>
            <a:pPr algn="l">
              <a:lnSpc>
                <a:spcPct val="150000"/>
              </a:lnSpc>
            </a:pPr>
            <a:r>
              <a:rPr sz="145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50" b="0" i="0">
                <a:solidFill>
                  <a:srgbClr val="FFFFFF"/>
                </a:solidFill>
                <a:latin typeface="Calibri"/>
              </a:rPr>
              <a:t>하지만 속성별로 쪼개보면—</a:t>
            </a:r>
          </a:p>
          <a:p>
            <a:pPr algn="l">
              <a:lnSpc>
                <a:spcPct val="150000"/>
              </a:lnSpc>
            </a:pPr>
            <a:r>
              <a:rPr sz="1450" b="0" i="0">
                <a:solidFill>
                  <a:srgbClr val="FFFFFF"/>
                </a:solidFill>
                <a:latin typeface="Calibri"/>
              </a:rPr>
              <a:t>보습/수분: 긍정 85%</a:t>
            </a:r>
          </a:p>
          <a:p>
            <a:pPr algn="l">
              <a:lnSpc>
                <a:spcPct val="150000"/>
              </a:lnSpc>
            </a:pPr>
            <a:r>
              <a:rPr sz="1450" b="0" i="0">
                <a:solidFill>
                  <a:srgbClr val="FFFFFF"/>
                </a:solidFill>
                <a:latin typeface="Calibri"/>
              </a:rPr>
              <a:t>가격/가성비: 긍정 96%</a:t>
            </a:r>
          </a:p>
          <a:p>
            <a:pPr algn="l">
              <a:lnSpc>
                <a:spcPct val="150000"/>
              </a:lnSpc>
            </a:pPr>
            <a:r>
              <a:rPr sz="1450" b="0" i="0">
                <a:solidFill>
                  <a:srgbClr val="FFFFFF"/>
                </a:solidFill>
                <a:latin typeface="Calibri"/>
              </a:rPr>
              <a:t>트러블/자극: 긍정 33% (부정 67%)</a:t>
            </a:r>
          </a:p>
          <a:p>
            <a:pPr algn="l">
              <a:lnSpc>
                <a:spcPct val="150000"/>
              </a:lnSpc>
            </a:pPr>
            <a:r>
              <a:rPr sz="145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50" b="0" i="0">
                <a:solidFill>
                  <a:srgbClr val="FFFFFF"/>
                </a:solidFill>
                <a:latin typeface="Calibri"/>
              </a:rPr>
              <a:t>→ 평점만 봐서는 절대 알 수 없는 정보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5577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CADCFC"/>
                </a:solidFill>
                <a:latin typeface="Calibri"/>
              </a:rPr>
              <a:t>538,774건 전체를 52초에 처리 (규칙 기반 속성분석, absa.py — ML 전체 적용은 Okt 병목으로 비용이 너무 커서 정규식 매칭으로 대체)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E2761"/>
                </a:solidFill>
                <a:latin typeface="Georgia"/>
              </a:rPr>
              <a:t>Streamlit 서비스 — BeautyScope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3520440" cy="2103120"/>
          </a:xfrm>
          <a:prstGeom prst="roundRect">
            <a:avLst>
              <a:gd name="adj" fmla="val 8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🛍️ 상품 리포트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3172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CADCFC"/>
                </a:solidFill>
                <a:latin typeface="Calibri"/>
              </a:rPr>
              <a:t>상품 검색 → 속성별 긍정비율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CADCFC"/>
                </a:solidFill>
                <a:latin typeface="Calibri"/>
              </a:rPr>
              <a:t>+ 대표 긍정/부정 리뷰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554480"/>
            <a:ext cx="3520440" cy="210312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8308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🔍 리뷰 텍스트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33172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CADCFC"/>
                </a:solidFill>
                <a:latin typeface="Calibri"/>
              </a:rPr>
              <a:t>텍스트 입력 → ML/DL 동시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CADCFC"/>
                </a:solidFill>
                <a:latin typeface="Calibri"/>
              </a:rPr>
              <a:t>예측 + 확률 시각화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9" y="1554480"/>
            <a:ext cx="3520440" cy="210312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78308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📊 데이터 대시보드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233172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CADCFC"/>
                </a:solidFill>
                <a:latin typeface="Calibri"/>
              </a:rPr>
              <a:t>플랫폼/별점/트렌드/카테고리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CADCFC"/>
                </a:solidFill>
                <a:latin typeface="Calibri"/>
              </a:rPr>
              <a:t>분포, 형태소 기반 키워드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931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동작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389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95C"/>
                </a:solidFill>
                <a:latin typeface="Calibri"/>
              </a:rPr>
              <a:t>•  로컬 환경에서 streamlit run app.py 실행 → HTTP 200 응답 확인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1295C"/>
                </a:solidFill>
                <a:latin typeface="Calibri"/>
              </a:rPr>
              <a:t>•  상품 검색 → 속성별 긍정비율/대표리뷰 정상 출력 확인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1295C"/>
                </a:solidFill>
                <a:latin typeface="Calibri"/>
              </a:rPr>
              <a:t>•  리뷰 텍스트 입력 → ML/DL 예측 일치 확인 (긍정/부정 예시 모두 정답)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  <a:latin typeface="Georgia"/>
              </a:rPr>
              <a:t>배포 준비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1295C"/>
                </a:solidFill>
                <a:latin typeface="Calibri"/>
              </a:rPr>
              <a:t>•  requirements.txt로 의존성 고정 (scikit-learn, streamlit, pandas, numpy, scipy, joblib, konlpy)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1295C"/>
                </a:solidFill>
                <a:latin typeface="Calibri"/>
              </a:rPr>
              <a:t>•  학습된 모델 + 집계 데이터를 models/에 포함 → 재학습 없이 바로 서비스 구동 가능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1295C"/>
                </a:solidFill>
                <a:latin typeface="Calibri"/>
              </a:rPr>
              <a:t>•  538,774건 원본 대신 사전 집계 CSV(대시보드/상품리포트용)를 서비스가 읽도록 분리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1295C"/>
                </a:solidFill>
                <a:latin typeface="Calibri"/>
              </a:rPr>
              <a:t>•  대용량 원본 크롤링 CSV는 .gitignore 처리, 정제된 데이터/모델/집계 파일만 추적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5029200"/>
            <a:ext cx="10881360" cy="1188720"/>
          </a:xfrm>
          <a:prstGeom prst="roundRect">
            <a:avLst>
              <a:gd name="adj" fmla="val 8000"/>
            </a:avLst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25780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555A6E"/>
                </a:solidFill>
                <a:latin typeface="Calibri"/>
              </a:rPr>
              <a:t>다음 과제: 대용량 데이터 Git LFS/외부 스토리지 연동, ABSA 정확도를 ML 분류기로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555A6E"/>
                </a:solidFill>
                <a:latin typeface="Calibri"/>
              </a:rPr>
              <a:t>고도화(현재는 규칙 기반), GPU 환경에서 KoELECTRA 전체 데이터 파인튜닝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Georgia"/>
              </a:rPr>
              <a:t>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50">
                <a:solidFill>
                  <a:srgbClr val="FFFFFF"/>
                </a:solidFill>
                <a:latin typeface="Calibri"/>
              </a:rPr>
              <a:t>•  3개 플랫폼 538,774건 데이터를 통일된 기준으로 통합 (가장 큰 난관: 라벨 기준 불일치)</a:t>
            </a:r>
          </a:p>
          <a:p>
            <a:pPr>
              <a:spcAft>
                <a:spcPts val="800"/>
              </a:spcAft>
            </a:pPr>
            <a:r>
              <a:rPr sz="1650">
                <a:solidFill>
                  <a:srgbClr val="FFFFFF"/>
                </a:solidFill>
                <a:latin typeface="Calibri"/>
              </a:rPr>
              <a:t>•  환경 제약(PyTorch 미설치)을 numpy 구현 → 별도 venv 구성으로 2단계에 걸쳐 해결</a:t>
            </a:r>
          </a:p>
          <a:p>
            <a:pPr>
              <a:spcAft>
                <a:spcPts val="800"/>
              </a:spcAft>
            </a:pPr>
            <a:r>
              <a:rPr sz="1650">
                <a:solidFill>
                  <a:srgbClr val="FFFFFF"/>
                </a:solidFill>
                <a:latin typeface="Calibri"/>
              </a:rPr>
              <a:t>•  ML/DL/LSTM/Transformer 4개 모델을 비교하고, 실제 분포 재평가로 숨은 문제(label shift)를 찾아 보정</a:t>
            </a:r>
          </a:p>
          <a:p>
            <a:pPr>
              <a:spcAft>
                <a:spcPts val="800"/>
              </a:spcAft>
            </a:pPr>
            <a:r>
              <a:rPr sz="1650">
                <a:solidFill>
                  <a:srgbClr val="FFFFFF"/>
                </a:solidFill>
                <a:latin typeface="Calibri"/>
              </a:rPr>
              <a:t>•  "실용성 없다"는 피드백을 받고 텍스트 데모 → 속성기반 상품 리포트로 서비스 자체를 전환</a:t>
            </a:r>
          </a:p>
          <a:p>
            <a:pPr>
              <a:spcAft>
                <a:spcPts val="800"/>
              </a:spcAft>
            </a:pPr>
            <a:r>
              <a:rPr sz="1650">
                <a:solidFill>
                  <a:srgbClr val="FFFFFF"/>
                </a:solidFill>
                <a:latin typeface="Calibri"/>
              </a:rPr>
              <a:t>•  Streamlit으로 서비스를 구현하고 동작까지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96167"/>
                </a:solidFill>
                <a:latin typeface="Georgia"/>
              </a:rPr>
              <a:t>BeautyScope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