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Sheet1!$A$2:$A$5</c:f>
              <c:strCache>
                <c:ptCount val="4"/>
                <c:pt idx="0">
                  <c:v>ML
(TF-IDF+LogReg)</c:v>
                </c:pt>
                <c:pt idx="1">
                  <c:v>DL
(numpy FFNN)</c:v>
                </c:pt>
                <c:pt idx="2">
                  <c:v>LSTM
(PyTorch)</c:v>
                </c:pt>
                <c:pt idx="3">
                  <c:v>KoELECTRA
(파인튜닝)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0.73</c:v>
                </c:pt>
                <c:pt idx="1">
                  <c:v>0.754</c:v>
                </c:pt>
                <c:pt idx="2">
                  <c:v>0.734</c:v>
                </c:pt>
                <c:pt idx="3">
                  <c:v>0.772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F96167"/>
            </a:solidFill>
          </c:spPr>
          <c:cat>
            <c:strRef>
              <c:f>Sheet1!$A$2:$A$5</c:f>
              <c:strCache>
                <c:ptCount val="4"/>
                <c:pt idx="0">
                  <c:v>ML
(TF-IDF+LogReg)</c:v>
                </c:pt>
                <c:pt idx="1">
                  <c:v>DL
(numpy FFNN)</c:v>
                </c:pt>
                <c:pt idx="2">
                  <c:v>LSTM
(PyTorch)</c:v>
                </c:pt>
                <c:pt idx="3">
                  <c:v>KoELECTRA
(파인튜닝)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0.668</c:v>
                </c:pt>
                <c:pt idx="1">
                  <c:v>0.664</c:v>
                </c:pt>
                <c:pt idx="2">
                  <c:v>0.671</c:v>
                </c:pt>
                <c:pt idx="3">
                  <c:v>0.66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보정 전</c:v>
                </c:pt>
              </c:strCache>
            </c:strRef>
          </c:tx>
          <c:spPr>
            <a:solidFill>
              <a:srgbClr val="8A90A8"/>
            </a:solidFill>
          </c:spPr>
          <c:cat>
            <c:strRef>
              <c:f>Sheet1!$A$2:$A$5</c:f>
              <c:strCache>
                <c:ptCount val="4"/>
                <c:pt idx="0">
                  <c:v>ML accuracy</c:v>
                </c:pt>
                <c:pt idx="1">
                  <c:v>ML macro F1</c:v>
                </c:pt>
                <c:pt idx="2">
                  <c:v>DL accuracy</c:v>
                </c:pt>
                <c:pt idx="3">
                  <c:v>DL macro 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0.806</c:v>
                </c:pt>
                <c:pt idx="1">
                  <c:v>0.626</c:v>
                </c:pt>
                <c:pt idx="2">
                  <c:v>0.89</c:v>
                </c:pt>
                <c:pt idx="3">
                  <c:v>0.712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보정 후</c:v>
                </c:pt>
              </c:strCache>
            </c:strRef>
          </c:tx>
          <c:spPr>
            <a:solidFill>
              <a:srgbClr val="F96167"/>
            </a:solidFill>
          </c:spPr>
          <c:cat>
            <c:strRef>
              <c:f>Sheet1!$A$2:$A$5</c:f>
              <c:strCache>
                <c:ptCount val="4"/>
                <c:pt idx="0">
                  <c:v>ML accuracy</c:v>
                </c:pt>
                <c:pt idx="1">
                  <c:v>ML macro F1</c:v>
                </c:pt>
                <c:pt idx="2">
                  <c:v>DL accuracy</c:v>
                </c:pt>
                <c:pt idx="3">
                  <c:v>DL macro F1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0.909</c:v>
                </c:pt>
                <c:pt idx="1">
                  <c:v>0.675</c:v>
                </c:pt>
                <c:pt idx="2">
                  <c:v>0.92</c:v>
                </c:pt>
                <c:pt idx="3">
                  <c:v>0.711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Georgia"/>
              </a:rPr>
              <a:t>BeautyScope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화장품 리뷰 538,774건으로 만든 감성 분석 + 속성기반 리포트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CADCFC"/>
                </a:solidFill>
                <a:latin typeface="Calibri"/>
              </a:rPr>
              <a:t>쿠팡 → 무신사·올리브영 추가 수집 → ML/DL 감성분류 → 속성분석(ABSA) → Streamlit 배포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937760"/>
            <a:ext cx="1645920" cy="41148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데이터 수집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4937760"/>
            <a:ext cx="2103120" cy="41148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모델 학습 (ML+DL)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493776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속성분석(ABSA)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493776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Streamlit 배포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Georgia"/>
              </a:rPr>
              <a:t>문제정의 &amp; 데이터 수집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21295C"/>
                </a:solidFill>
                <a:latin typeface="Calibri"/>
              </a:rPr>
              <a:t>•  리뷰가 상품당 수백~수천 건 — 사람이 다 읽고 판단하기 어렵다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1295C"/>
                </a:solidFill>
                <a:latin typeface="Calibri"/>
              </a:rPr>
              <a:t>•  별점만 봐서는 "왜" 좋고 나쁜지, 속성별로(보습/향/트러블) 어떤지 알 수 없다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1295C"/>
                </a:solidFill>
                <a:latin typeface="Calibri"/>
              </a:rPr>
              <a:t>•  → ML/DL로 감성 분류 + 속성기반 감성분석(ABSA)으로 해결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9184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5204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1차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쿠팡 크롤링</a:t>
            </a:r>
          </a:p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(20개 키워드)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292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86,379건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78807" y="4389120"/>
            <a:ext cx="146304" cy="320040"/>
          </a:xfrm>
          <a:prstGeom prst="rightArrow">
            <a:avLst/>
          </a:prstGeom>
          <a:solidFill>
            <a:srgbClr val="55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329184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5204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2차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93192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+ 무신사·올리브영</a:t>
            </a:r>
          </a:p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(동료 크롤링 데이터 추가)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0292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452,395건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82127" y="4389120"/>
            <a:ext cx="146304" cy="320040"/>
          </a:xfrm>
          <a:prstGeom prst="rightArrow">
            <a:avLst/>
          </a:prstGeom>
          <a:solidFill>
            <a:srgbClr val="55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19" y="329184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352044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최종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93192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스키마/라벨 통일</a:t>
            </a:r>
          </a:p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+ 중복 제거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50292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538,774건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Georgia"/>
              </a:rPr>
              <a:t>데이터 준비 — 가장 까다로웠던 단계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141732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755648"/>
            <a:ext cx="2743200" cy="438912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라벨 기준 불일치 (핵심)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691639"/>
            <a:ext cx="35204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55A6E"/>
                </a:solidFill>
                <a:latin typeface="Calibri"/>
              </a:rPr>
              <a:t>무신사 sentiment가 별점 아닌 텍스트분석 기반 → 5점 리뷰의 21%가 '부정'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691639"/>
            <a:ext cx="3931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해결 → 전체 데이터의 sentiment를 별점에서 일괄 재계산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54680"/>
            <a:ext cx="10881360" cy="141732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355848"/>
            <a:ext cx="2743200" cy="438912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클래스 불균형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291840"/>
            <a:ext cx="35204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55A6E"/>
                </a:solidFill>
                <a:latin typeface="Calibri"/>
              </a:rPr>
              <a:t>긍정 86.7% — 그대로 학습하면 다 긍정 찍어도 86% 정확도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291840"/>
            <a:ext cx="3931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해결 → 부정/중립 전량 + 긍정은 2배 규모로만 다운샘플링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54880"/>
            <a:ext cx="10881360" cy="141732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4956048"/>
            <a:ext cx="2743200" cy="438912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불용어/형태소 미처리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892040"/>
            <a:ext cx="35204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55A6E"/>
                </a:solidFill>
                <a:latin typeface="Calibri"/>
              </a:rPr>
              <a:t>정규식으로만 잘라서 조사가 토큰에 섞임 ("좋아요"≠"좋아서")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4892040"/>
            <a:ext cx="3931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해결 → Okt 형태소분석 + 어간정규화 + 불용어 제거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Georgia"/>
              </a:rPr>
              <a:t>AI 활용 &amp; 모델 — ML/DL/LSTM/Transformer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>
                <a:solidFill>
                  <a:srgbClr val="21295C"/>
                </a:solidFill>
                <a:latin typeface="Calibri"/>
              </a:rPr>
              <a:t>•  Claude Code와 페어 프로그래밍 — crosstab으로 라벨 불일치를 수치로 진단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1295C"/>
                </a:solidFill>
                <a:latin typeface="Calibri"/>
              </a:rPr>
              <a:t>•  환경 제약(Python 3.14, PyTorch 미설치) → numpy로 신경망 직접 구현,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21295C"/>
                </a:solidFill>
                <a:latin typeface="Calibri"/>
              </a:rPr>
              <a:t>•  이후 Python 3.11 별도 venv 구성해서 실제 LSTM·Transformer까지 검증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3017520"/>
          <a:ext cx="694944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63840" y="31089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결론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56616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21295C"/>
                </a:solidFill>
                <a:latin typeface="Calibri"/>
              </a:rPr>
              <a:t>•  KoELECTRA가 데이터 1/7만 쓰고도
최고 accuracy → 사전학습 효과 확인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21295C"/>
                </a:solidFill>
                <a:latin typeface="Calibri"/>
              </a:rPr>
              <a:t>•  LSTM은 순서 정보 기대했으나 차이 없음
→ 짧은 리뷰는 어휘 자체가 강한 신호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Georgia"/>
              </a:rPr>
              <a:t>모델 문제 발견 — 실제 분포로 재평가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학습 시 클래스 밸런싱(다운샘플링)을 했는데, 실제 운영 비율(positive 86.7%)과 다름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실제 분포 샘플로 재평가하니 neutral precision이 0.20까지 하락 (label shift)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= 모델이 "중립"이라고 예측한 것 중 80%가 틀림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91840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해결: 재학습 없이 추론 단계에서 확률 보정 (학습 비율 ↔ 실제 비율 차이로 보정)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645920" y="4297680"/>
          <a:ext cx="886968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Georgia"/>
              </a:rPr>
              <a:t>서비스 진화 — 텍스트 데모에서 실용적 리포트로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520440" cy="2468880"/>
          </a:xfrm>
          <a:prstGeom prst="roundRect">
            <a:avLst>
              <a:gd name="adj" fmla="val 7000"/>
            </a:avLst>
          </a:prstGeom>
          <a:solidFill>
            <a:srgbClr val="55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1차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리뷰 텍스트를 직접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타이핑하는 데모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CADCFC"/>
                </a:solidFill>
                <a:latin typeface="Calibri"/>
              </a:rPr>
              <a:t>→ "실용성 없다" 피드백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78807" y="2560320"/>
            <a:ext cx="146304" cy="320040"/>
          </a:xfrm>
          <a:prstGeom prst="rightArrow">
            <a:avLst/>
          </a:prstGeom>
          <a:solidFill>
            <a:srgbClr val="55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520440" cy="246888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2차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상품 검색 → 8개 속성별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긍정비율 + 대표리뷰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3756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CADCFC"/>
                </a:solidFill>
                <a:latin typeface="Calibri"/>
              </a:rPr>
              <a:t>→ "더 구체적이면 좋겠다"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82127" y="2560320"/>
            <a:ext cx="146304" cy="320040"/>
          </a:xfrm>
          <a:prstGeom prst="rightArrow">
            <a:avLst/>
          </a:prstGeom>
          <a:solidFill>
            <a:srgbClr val="55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19" y="1463040"/>
            <a:ext cx="3520440" cy="2468880"/>
          </a:xfrm>
          <a:prstGeom prst="roundRect">
            <a:avLst>
              <a:gd name="adj" fmla="val 7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64592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3차</a:t>
            </a:r>
          </a:p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(현재)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05740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+ 속성별 랭킹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+ 대안 상품 추천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+ 피부타입별 세그먼트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33756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CADCFC"/>
                </a:solidFill>
                <a:latin typeface="Calibri"/>
              </a:rPr>
              <a:t>구매 의사결정까지 지원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55A6E"/>
                </a:solidFill>
                <a:latin typeface="Calibri"/>
              </a:rPr>
              <a:t>예: 트러블 잘 올라오는 상품 → 같은 카테고리에서 트러블 평가 좋은 대안을 바로 추천 / 건성·지성·복합성·민감성 피부별로 평가가 따로 보임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1295C"/>
                </a:solidFill>
                <a:latin typeface="Calibri"/>
              </a:rPr>
              <a:t>•  538,774건 데이터를 통일된 기준으로 통합, 4개 모델(ML/DL/LSTM/Transformer)을 비교 학습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1295C"/>
                </a:solidFill>
                <a:latin typeface="Calibri"/>
              </a:rPr>
              <a:t>•  실제 분포 재평가로 숨은 문제(label shift)를 찾아 보정, 두 차례 피드백으로 서비스를 실용적으로 발전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