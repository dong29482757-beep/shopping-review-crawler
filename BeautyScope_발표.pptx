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ML
(TF-IDF+LogReg)</c:v>
                </c:pt>
                <c:pt idx="1">
                  <c:v>DL
(numpy FFNN)</c:v>
                </c:pt>
                <c:pt idx="2">
                  <c:v>LSTM
(PyTorch)</c:v>
                </c:pt>
                <c:pt idx="3">
                  <c:v>KoELECTRA
(파인튜닝)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0.73</c:v>
                </c:pt>
                <c:pt idx="1">
                  <c:v>0.754</c:v>
                </c:pt>
                <c:pt idx="2">
                  <c:v>0.734</c:v>
                </c:pt>
                <c:pt idx="3">
                  <c:v>0.772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F96167"/>
            </a:solidFill>
          </c:spPr>
          <c:cat>
            <c:strRef>
              <c:f>Sheet1!$A$2:$A$5</c:f>
              <c:strCache>
                <c:ptCount val="4"/>
                <c:pt idx="0">
                  <c:v>ML
(TF-IDF+LogReg)</c:v>
                </c:pt>
                <c:pt idx="1">
                  <c:v>DL
(numpy FFNN)</c:v>
                </c:pt>
                <c:pt idx="2">
                  <c:v>LSTM
(PyTorch)</c:v>
                </c:pt>
                <c:pt idx="3">
                  <c:v>KoELECTRA
(파인튜닝)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0.668</c:v>
                </c:pt>
                <c:pt idx="1">
                  <c:v>0.664</c:v>
                </c:pt>
                <c:pt idx="2">
                  <c:v>0.671</c:v>
                </c:pt>
                <c:pt idx="3">
                  <c:v>0.66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보정 전</c:v>
                </c:pt>
              </c:strCache>
            </c:strRef>
          </c:tx>
          <c:spPr>
            <a:solidFill>
              <a:srgbClr val="8A90A8"/>
            </a:solidFill>
          </c:spPr>
          <c:cat>
            <c:strRef>
              <c:f>Sheet1!$A$2:$A$5</c:f>
              <c:strCache>
                <c:ptCount val="4"/>
                <c:pt idx="0">
                  <c:v>ML accuracy</c:v>
                </c:pt>
                <c:pt idx="1">
                  <c:v>ML macro F1</c:v>
                </c:pt>
                <c:pt idx="2">
                  <c:v>DL accuracy</c:v>
                </c:pt>
                <c:pt idx="3">
                  <c:v>DL macro F1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0.806</c:v>
                </c:pt>
                <c:pt idx="1">
                  <c:v>0.626</c:v>
                </c:pt>
                <c:pt idx="2">
                  <c:v>0.89</c:v>
                </c:pt>
                <c:pt idx="3">
                  <c:v>0.712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보정 후</c:v>
                </c:pt>
              </c:strCache>
            </c:strRef>
          </c:tx>
          <c:spPr>
            <a:solidFill>
              <a:srgbClr val="F96167"/>
            </a:solidFill>
          </c:spPr>
          <c:cat>
            <c:strRef>
              <c:f>Sheet1!$A$2:$A$5</c:f>
              <c:strCache>
                <c:ptCount val="4"/>
                <c:pt idx="0">
                  <c:v>ML accuracy</c:v>
                </c:pt>
                <c:pt idx="1">
                  <c:v>ML macro F1</c:v>
                </c:pt>
                <c:pt idx="2">
                  <c:v>DL accuracy</c:v>
                </c:pt>
                <c:pt idx="3">
                  <c:v>DL macro F1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0.909</c:v>
                </c:pt>
                <c:pt idx="1">
                  <c:v>0.675</c:v>
                </c:pt>
                <c:pt idx="2">
                  <c:v>0.92</c:v>
                </c:pt>
                <c:pt idx="3">
                  <c:v>0.711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Georgia"/>
              </a:rPr>
              <a:t>BeautyScope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8036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화장품 리뷰 538,774건으로 만든 감성 분석 + 속성기반 리포트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CADCFC"/>
                </a:solidFill>
                <a:latin typeface="Calibri"/>
              </a:rPr>
              <a:t>데이터 1차→2차, 모델 1세대→4종 비교, 서비스 1차→2차→3차 — 피드백을 받을 때마다 한 단계씩 성장한 프로젝트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572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데이터 수집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572000"/>
            <a:ext cx="210312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모델 학습 (ML+DL)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4572000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속성분석(ABSA)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4572000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Streamlit 배포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035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55A6E"/>
                </a:solidFill>
                <a:latin typeface="Calibri"/>
              </a:rPr>
              <a:t>Lv.1 데이터 수집  →  Lv.2 모델 학습  →  Lv.3 속성 분석  →  Lv.4 추천/매칭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Georgia"/>
              </a:rPr>
              <a:t>왜 이 서비스가 필요한가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555A6E"/>
                </a:solidFill>
                <a:latin typeface="Calibri"/>
              </a:rPr>
              <a:t>모든 화장품이 모든 면에서 좋을 수는 없다 — 평점은 비슷해도 "강점"은 다르다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5212080" cy="2697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크리스마 더마랩 토너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평점 4.55 /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보습/수분  긍정 80.5%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204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트러블/자극  긍정 23.3%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74519"/>
            <a:ext cx="5212080" cy="2697480"/>
          </a:xfrm>
          <a:prstGeom prst="roundRect">
            <a:avLst>
              <a:gd name="adj" fmla="val 6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닥터지 에이클리어 밸런싱 토너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6060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평점 4.78 /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보습/수분  긍정 81.5%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204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트러블/자극  긍정 40.5%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548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→ 평점은 0.2점밖에 안 차이나는데, 트러블/자극 긍정비율은 23.3% vs 40.5%로 거의 2배 차이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035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사람마다 화장품을 고를 때 중요하게 보는 속성이 다르다 (트러블 잘 나는 사람은 자극에, 건조한 사람은 보습에 민감)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평점 하나로는 "나에게 맞는" 제품을 찾을 수 없다 → 속성별로 쪼개서 봐야 진짜 정보가 보인다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Georgia"/>
              </a:rPr>
              <a:t>데이터 수집 — 처음엔 쿠팡만, 더 모았다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3520440" cy="246888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  <a:latin typeface="Calibri"/>
              </a:rPr>
              <a:t>1차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쿠팡 크롤링</a:t>
            </a:r>
          </a:p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(20개 키워드)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29184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86,379건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78807" y="2651760"/>
            <a:ext cx="146304" cy="320040"/>
          </a:xfrm>
          <a:prstGeom prst="rightArrow">
            <a:avLst/>
          </a:prstGeom>
          <a:solidFill>
            <a:srgbClr val="55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43400" y="1554480"/>
            <a:ext cx="3520440" cy="246888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7830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  <a:latin typeface="Calibri"/>
              </a:rPr>
              <a:t>2차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9456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+ 무신사·올리브영</a:t>
            </a:r>
          </a:p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(동료 크롤링 데이터 추가)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29184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452,395건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882127" y="2651760"/>
            <a:ext cx="146304" cy="320040"/>
          </a:xfrm>
          <a:prstGeom prst="rightArrow">
            <a:avLst/>
          </a:prstGeom>
          <a:solidFill>
            <a:srgbClr val="55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19" y="1554480"/>
            <a:ext cx="3520440" cy="2468880"/>
          </a:xfrm>
          <a:prstGeom prst="roundRect">
            <a:avLst>
              <a:gd name="adj" fmla="val 8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17830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  <a:latin typeface="Calibri"/>
              </a:rPr>
              <a:t>최종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19456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스키마/라벨 통일</a:t>
            </a:r>
          </a:p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+ 중복 제거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329184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538,774건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891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데이터 장점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4632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95C"/>
                </a:solidFill>
                <a:latin typeface="Calibri"/>
              </a:rPr>
              <a:t>•  별점 기반 라벨이 이미 존재 → 별도 수작업 레이블링 불필요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1295C"/>
                </a:solidFill>
                <a:latin typeface="Calibri"/>
              </a:rPr>
              <a:t>•  화장품 도메인 특화, 2015~2026년 10년치 데이터로 트렌드 분석도 가능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1295C"/>
                </a:solidFill>
                <a:latin typeface="Calibri"/>
              </a:rPr>
              <a:t>•  20개+ 카테고리 × 8개 속성으로 비교 분석 용이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쿠팡 크롤링 — 봇 탐지를 어떻게 뚫었나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1">
                <a:solidFill>
                  <a:srgbClr val="CADCFC"/>
                </a:solidFill>
                <a:latin typeface="Calibri"/>
              </a:rPr>
              <a:t>쿠팡은 문지기(Akamai)가 "이 손님이 사람인지 로봇인지" 5단계로 검사한다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03520" cy="4206240"/>
          </a:xfrm>
          <a:prstGeom prst="roundRect">
            <a:avLst>
              <a:gd name="adj" fmla="val 5000"/>
            </a:avLst>
          </a:prstGeom>
          <a:solidFill>
            <a:srgbClr val="283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96167"/>
                </a:solidFill>
                <a:latin typeface="Calibri"/>
              </a:rPr>
              <a:t>왜 막혔나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requests로 접속 → 헤더만 보고 1단계에서 바로 차단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Selenium으로 접속 → "자동화 도구" 흔적이 들켜서
3단계에서 차단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마우스·스크롤 없이 너무 빠르게 요청하면
행동 패턴에서 차단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303520" cy="4206240"/>
          </a:xfrm>
          <a:prstGeom prst="roundRect">
            <a:avLst>
              <a:gd name="adj" fmla="val 5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031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어떻게 뚫었나 — "진짜 손님" 행세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65176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가짜 브라우저 대신, 내 컴퓨터의 실제 Chrome을
그대로 원격 연결해서 사용 (Playwright + CDP)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검색창에 키워드를 한 글자씩 타이핑
(URL로 바로 안 들어감)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상품 사이 랜덤 대기, 가끔 쿠팡 홈으로 돌아가
쉬기 — 사람처럼 행동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1">
                <a:solidFill>
                  <a:srgbClr val="CADCFC"/>
                </a:solidFill>
                <a:latin typeface="Calibri"/>
              </a:rPr>
              <a:t>핵심: 자동화 도구를 "새로 띄우는" 게 아니라, 이미 로그인된 실제 브라우저에 "숟가락만 얹는" 방식이라 자동화 흔적 자체가 없다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Georgia"/>
              </a:rPr>
              <a:t>데이터 준비 — 가장 까다로웠던 단계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141732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755648"/>
            <a:ext cx="2743200" cy="438912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라벨 기준 불일치 (핵심)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0" y="1691639"/>
            <a:ext cx="35204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55A6E"/>
                </a:solidFill>
                <a:latin typeface="Calibri"/>
              </a:rPr>
              <a:t>무신사 sentiment가 별점 아닌 텍스트분석 기반 → 5점 리뷰의 21%가 '부정'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691639"/>
            <a:ext cx="3931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해결 → 전체 데이터의 sentiment를 별점에서 일괄 재계산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54680"/>
            <a:ext cx="10881360" cy="141732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3355848"/>
            <a:ext cx="2743200" cy="438912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클래스 불균형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3291840"/>
            <a:ext cx="35204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55A6E"/>
                </a:solidFill>
                <a:latin typeface="Calibri"/>
              </a:rPr>
              <a:t>긍정 86.7% — 그대로 학습하면 다 긍정 찍어도 86% 정확도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3291840"/>
            <a:ext cx="3931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해결 → 부정/중립 전량 + 긍정은 2배 규모로만 다운샘플링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4956048"/>
            <a:ext cx="2743200" cy="438912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불용어/형태소 미처리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4892040"/>
            <a:ext cx="35204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55A6E"/>
                </a:solidFill>
                <a:latin typeface="Calibri"/>
              </a:rPr>
              <a:t>정규식으로만 잘라서 조사가 토큰에 섞임 ("좋아요"≠"좋아서")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4892040"/>
            <a:ext cx="3931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해결 → Okt 형태소분석 + 어간정규화 + 불용어 제거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Georgia"/>
              </a:rPr>
              <a:t>AI 활용 &amp; 모델 — ML/DL/LSTM/Transformer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50">
                <a:solidFill>
                  <a:srgbClr val="21295C"/>
                </a:solidFill>
                <a:latin typeface="Calibri"/>
              </a:rPr>
              <a:t>•  Claude Code와 페어 프로그래밍 — crosstab으로 라벨 불일치를 수치로 진단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21295C"/>
                </a:solidFill>
                <a:latin typeface="Calibri"/>
              </a:rPr>
              <a:t>•  환경 제약(Python 3.14, PyTorch 미설치) → numpy로 신경망 직접 구현,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21295C"/>
                </a:solidFill>
                <a:latin typeface="Calibri"/>
              </a:rPr>
              <a:t>•  이후 Python 3.11 별도 venv 구성해서 실제 LSTM·Transformer까지 검증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3017520"/>
          <a:ext cx="694944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63840" y="310896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결론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356616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KoELECTRA가 데이터 1/7만 쓰고도
최고 accuracy → 사전학습 효과 확인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LSTM은 순서 정보 기대했으나 차이 없음
→ 짧은 리뷰는 어휘 자체가 강한 신호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모델 문제 발견 — 실제 분포로 재평가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학습 시 클래스 밸런싱(다운샘플링)을 했는데, 실제 운영 비율(positive 86.7%)과 다름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실제 분포 샘플로 재평가하니 neutral precision이 0.20까지 하락 (label shift)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= 모델이 "중립"이라고 예측한 것 중 80%가 틀림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291840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5204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해결: 재학습 없이 추론 단계에서 확률 보정 (학습 비율 ↔ 실제 비율 차이로 보정)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645920" y="4297680"/>
          <a:ext cx="8869680" cy="2194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Georgia"/>
              </a:rPr>
              <a:t>한 단계씩 — 피드백을 받을 때마다 성장한 서비스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520440" cy="2377440"/>
          </a:xfrm>
          <a:prstGeom prst="roundRect">
            <a:avLst>
              <a:gd name="adj" fmla="val 7000"/>
            </a:avLst>
          </a:prstGeom>
          <a:solidFill>
            <a:srgbClr val="55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5448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Lv.1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30632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리뷰 텍스트를 직접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타이핑하는 데모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2918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CADCFC"/>
                </a:solidFill>
                <a:latin typeface="Calibri"/>
              </a:rPr>
              <a:t>→ "실용성 없다" 피드백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78807" y="2468880"/>
            <a:ext cx="146304" cy="320040"/>
          </a:xfrm>
          <a:prstGeom prst="rightArrow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520440" cy="2377440"/>
          </a:xfrm>
          <a:prstGeom prst="roundRect">
            <a:avLst>
              <a:gd name="adj" fmla="val 7000"/>
            </a:avLst>
          </a:prstGeom>
          <a:solidFill>
            <a:srgbClr val="3A4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5448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Lv.2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03120"/>
            <a:ext cx="30632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상품 검색 → 8개 속성별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긍정비율 + 대표리뷰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2918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CADCFC"/>
                </a:solidFill>
                <a:latin typeface="Calibri"/>
              </a:rPr>
              <a:t>→ "더 구체적이면 좋겠다"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882127" y="2468880"/>
            <a:ext cx="146304" cy="320040"/>
          </a:xfrm>
          <a:prstGeom prst="rightArrow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19" y="1371600"/>
            <a:ext cx="3520440" cy="2377440"/>
          </a:xfrm>
          <a:prstGeom prst="roundRect">
            <a:avLst>
              <a:gd name="adj" fmla="val 7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155448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Lv.3</a:t>
            </a:r>
          </a:p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(현재)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103120"/>
            <a:ext cx="30632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+ 속성별 랭킹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+ 대안 상품 추천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+ 피부타입별 세그먼트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32918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CADCFC"/>
                </a:solidFill>
                <a:latin typeface="Calibri"/>
              </a:rPr>
              <a:t>"나에게 맞는" 제품 매칭까지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77639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0624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결국 BeautyScope는 "평점이 높은 제품"이 아니라 "내가 중요하게 생각하는 속성에 강한 제품"을 찾아주는 매칭 서비스로 성장했다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074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정리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864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•  538,774건 데이터를 통일된 기준으로 통합, 4개 모델(ML/DL/LSTM/Transformer)을 비교 학습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•  실제 분포 재평가로 숨은 문제(label shift)를 찾아 보정, 세 차례 피드백을 거치며 서비스를 단계적으로 발전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