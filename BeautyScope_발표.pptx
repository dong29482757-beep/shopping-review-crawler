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건수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Sheet1!$A$2:$A$4</c:f>
              <c:strCache>
                <c:ptCount val="3"/>
                <c:pt idx="0">
                  <c:v>쿠팡</c:v>
                </c:pt>
                <c:pt idx="1">
                  <c:v>무신사</c:v>
                </c:pt>
                <c:pt idx="2">
                  <c:v>올리브영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86379</c:v>
                </c:pt>
                <c:pt idx="1">
                  <c:v>230870</c:v>
                </c:pt>
                <c:pt idx="2">
                  <c:v>221525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ML (TF-IDF+LogReg)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Sheet1!$A$2:$A$3</c:f>
              <c:strCache>
                <c:ptCount val="2"/>
                <c:pt idx="0">
                  <c:v>Accuracy</c:v>
                </c:pt>
                <c:pt idx="1">
                  <c:v>Macro F1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0.738</c:v>
                </c:pt>
                <c:pt idx="1">
                  <c:v>0.677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DL (numpy 신경망)</c:v>
                </c:pt>
              </c:strCache>
            </c:strRef>
          </c:tx>
          <c:spPr>
            <a:solidFill>
              <a:srgbClr val="F96167"/>
            </a:solidFill>
          </c:spPr>
          <c:cat>
            <c:strRef>
              <c:f>Sheet1!$A$2:$A$3</c:f>
              <c:strCache>
                <c:ptCount val="2"/>
                <c:pt idx="0">
                  <c:v>Accuracy</c:v>
                </c:pt>
                <c:pt idx="1">
                  <c:v>Macro F1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0.762</c:v>
                </c:pt>
                <c:pt idx="1">
                  <c:v>0.663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Georgia"/>
              </a:rPr>
              <a:t>BeautyScope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CADCFC"/>
                </a:solidFill>
                <a:latin typeface="Calibri"/>
              </a:rPr>
              <a:t>화장품 리뷰 538,774건으로 만든 감성 분석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쿠팡 · 무신사 · 올리브영 데이터 통합 → ML/DL 감성 분류 모델 → Streamlit 서비스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512064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데이터 수집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5120640"/>
            <a:ext cx="2103120" cy="41148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모델 학습 (ML+DL)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5120640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Streamlit 배포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Georgia"/>
              </a:rPr>
              <a:t>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1295C"/>
                </a:solidFill>
                <a:latin typeface="Calibri"/>
              </a:rPr>
              <a:t>•  화장품 리뷰는 플랫폼마다 수만~수십만 건 — 사람이 다 읽고 판단하기 어렵다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95C"/>
                </a:solidFill>
                <a:latin typeface="Calibri"/>
              </a:rPr>
              <a:t>•  별점만으로는 "왜" 좋고 나쁜지 알 수 없다 (텍스트 안에 진짜 정보가 있음)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1295C"/>
                </a:solidFill>
                <a:latin typeface="Calibri"/>
              </a:rPr>
              <a:t>•  여러 플랫폼(쿠팡/무신사/올리브영) 리뷰를 한 기준으로 비교하기 어렵다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846320"/>
            <a:ext cx="5486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96167"/>
                </a:solidFill>
                <a:latin typeface="Calibri"/>
              </a:rPr>
              <a:t>그래서: 리뷰 텍스트를 긍정/중립/부정으로 자동 분류하고,</a:t>
            </a:r>
          </a:p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96167"/>
                </a:solidFill>
                <a:latin typeface="Calibri"/>
              </a:rPr>
              <a:t>플랫폼 통합 대시보드로 한눈에 보여주는 서비스를 만든다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463040"/>
            <a:ext cx="5120640" cy="4846320"/>
          </a:xfrm>
          <a:prstGeom prst="roundRect">
            <a:avLst>
              <a:gd name="adj" fmla="val 4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78308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별점만 본다면?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377440"/>
            <a:ext cx="43891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 i="0">
                <a:solidFill>
                  <a:srgbClr val="555A6E"/>
                </a:solidFill>
                <a:latin typeface="Calibri"/>
              </a:rPr>
              <a:t>★★★★★</a:t>
            </a:r>
          </a:p>
          <a:p>
            <a:pPr algn="l">
              <a:lnSpc>
                <a:spcPct val="135000"/>
              </a:lnSpc>
            </a:pPr>
            <a:r>
              <a:rPr sz="1450" b="0" i="0">
                <a:solidFill>
                  <a:srgbClr val="555A6E"/>
                </a:solidFill>
                <a:latin typeface="Calibri"/>
              </a:rPr>
              <a:t>"보습력은 좋은데 향이 너무 강해서</a:t>
            </a:r>
          </a:p>
          <a:p>
            <a:pPr algn="l">
              <a:lnSpc>
                <a:spcPct val="135000"/>
              </a:lnSpc>
            </a:pPr>
            <a:r>
              <a:rPr sz="1450" b="0" i="0">
                <a:solidFill>
                  <a:srgbClr val="555A6E"/>
                </a:solidFill>
                <a:latin typeface="Calibri"/>
              </a:rPr>
              <a:t>다시는 안 살 것 같아요"</a:t>
            </a:r>
          </a:p>
          <a:p>
            <a:pPr algn="l">
              <a:lnSpc>
                <a:spcPct val="135000"/>
              </a:lnSpc>
            </a:pPr>
            <a:r>
              <a:rPr sz="1450" b="0" i="0">
                <a:solidFill>
                  <a:srgbClr val="555A6E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50" b="0" i="0">
                <a:solidFill>
                  <a:srgbClr val="555A6E"/>
                </a:solidFill>
                <a:latin typeface="Calibri"/>
              </a:rPr>
              <a:t>→ 별점은 5점, 하지만 텍스트는 단점(향)을 말하고 있다.</a:t>
            </a:r>
          </a:p>
          <a:p>
            <a:pPr algn="l">
              <a:lnSpc>
                <a:spcPct val="135000"/>
              </a:lnSpc>
            </a:pPr>
            <a:r>
              <a:rPr sz="1450" b="0" i="0">
                <a:solidFill>
                  <a:srgbClr val="555A6E"/>
                </a:solidFill>
                <a:latin typeface="Calibri"/>
              </a:rPr>
              <a:t>감성 분류 모델은 이런 "숨은 신호"를 텍스트에서 직접 잡아낸다.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Georgia"/>
              </a:rPr>
              <a:t>데이터 수집 현황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55A6E"/>
                </a:solidFill>
                <a:latin typeface="Calibri"/>
              </a:rPr>
              <a:t>3개 플랫폼 통합 538,774건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2606040" cy="963777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96167"/>
                </a:solidFill>
                <a:latin typeface="Calibri"/>
              </a:rPr>
              <a:t>86,379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84017"/>
            <a:ext cx="2606040" cy="59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55A6E"/>
                </a:solidFill>
                <a:latin typeface="Calibri"/>
              </a:rPr>
              <a:t>쿠팡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920240"/>
            <a:ext cx="2606040" cy="963777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E2761"/>
                </a:solidFill>
                <a:latin typeface="Calibri"/>
              </a:rPr>
              <a:t>230,870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884017"/>
            <a:ext cx="2606040" cy="59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55A6E"/>
                </a:solidFill>
                <a:latin typeface="Calibri"/>
              </a:rPr>
              <a:t>무신사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920240"/>
            <a:ext cx="2606040" cy="963777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E2761"/>
                </a:solidFill>
                <a:latin typeface="Calibri"/>
              </a:rPr>
              <a:t>221,525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884017"/>
            <a:ext cx="2606040" cy="59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55A6E"/>
                </a:solidFill>
                <a:latin typeface="Calibri"/>
              </a:rPr>
              <a:t>올리브영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1920240"/>
            <a:ext cx="2606040" cy="963777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E2761"/>
                </a:solidFill>
                <a:latin typeface="Calibri"/>
              </a:rPr>
              <a:t>538,774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884017"/>
            <a:ext cx="2606040" cy="59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55A6E"/>
                </a:solidFill>
                <a:latin typeface="Calibri"/>
              </a:rPr>
              <a:t>통합 전체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40080" y="3840480"/>
          <a:ext cx="512064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217920" y="384048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데이터 장점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4297680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21295C"/>
                </a:solidFill>
                <a:latin typeface="Calibri"/>
              </a:rPr>
              <a:t>•  별점 기반 라벨이 이미 존재 → 별도 수작업 레이블링 불필요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1295C"/>
                </a:solidFill>
                <a:latin typeface="Calibri"/>
              </a:rPr>
              <a:t>•  화장품 도메인 특화 (성분/지속력/자극 등 표현이 풍부)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1295C"/>
                </a:solidFill>
                <a:latin typeface="Calibri"/>
              </a:rPr>
              <a:t>•  2015~2026년 10년치 데이터로 트렌드 분석 가능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1295C"/>
                </a:solidFill>
                <a:latin typeface="Calibri"/>
              </a:rPr>
              <a:t>•  20개+ 카테고리로 비교 분석 용이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Georgia"/>
              </a:rPr>
              <a:t>데이터 준비 — 가장 어려웠던 단계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881360" cy="1170432"/>
          </a:xfrm>
          <a:prstGeom prst="roundRect">
            <a:avLst>
              <a:gd name="adj" fmla="val 6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1581912"/>
            <a:ext cx="2331720" cy="41148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스키마 불일치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508760"/>
            <a:ext cx="37490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55A6E"/>
                </a:solidFill>
                <a:latin typeface="Calibri"/>
              </a:rPr>
              <a:t>쿠팡/무신사/올리브영 컬럼명이 전부 다름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55A6E"/>
                </a:solidFill>
                <a:latin typeface="Calibri"/>
              </a:rPr>
              <a:t>(CSV 2종 + JSONL 4파일)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508760"/>
            <a:ext cx="40690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해결 → 공통 스키마로 변환하는 로더 3개 작성 후 concat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97480"/>
            <a:ext cx="10881360" cy="1170432"/>
          </a:xfrm>
          <a:prstGeom prst="roundRect">
            <a:avLst>
              <a:gd name="adj" fmla="val 6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2862072"/>
            <a:ext cx="2331720" cy="41148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라벨 기준 불일치 (핵심)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788920"/>
            <a:ext cx="37490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55A6E"/>
                </a:solidFill>
                <a:latin typeface="Calibri"/>
              </a:rPr>
              <a:t>무신사 sentiment는 별점 기반이 아니라 텍스트 분석 기반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55A6E"/>
                </a:solidFill>
                <a:latin typeface="Calibri"/>
              </a:rPr>
              <a:t>→ 5점 리뷰의 21%가 '부정'으로 라벨링되어 있었음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788920"/>
            <a:ext cx="40690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해결 → 전체 데이터의 sentiment를 별점에서 일괄 재계산해 기준 통일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77639"/>
            <a:ext cx="10881360" cy="1170432"/>
          </a:xfrm>
          <a:prstGeom prst="roundRect">
            <a:avLst>
              <a:gd name="adj" fmla="val 6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4142231"/>
            <a:ext cx="2331720" cy="41148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인코딩 깨짐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4069079"/>
            <a:ext cx="37490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55A6E"/>
                </a:solidFill>
                <a:latin typeface="Calibri"/>
              </a:rPr>
              <a:t>무신사 CSV를 기본 인코딩으로 읽으면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55A6E"/>
                </a:solidFill>
                <a:latin typeface="Calibri"/>
              </a:rPr>
              <a:t>한글이 깨짐 (mojibake)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4069079"/>
            <a:ext cx="40690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해결 → encoding='utf-8-sig' 명시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257800"/>
            <a:ext cx="10881360" cy="1170432"/>
          </a:xfrm>
          <a:prstGeom prst="roundRect">
            <a:avLst>
              <a:gd name="adj" fmla="val 6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5422392"/>
            <a:ext cx="2331720" cy="41148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클래스 불균형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5349240"/>
            <a:ext cx="37490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55A6E"/>
                </a:solidFill>
                <a:latin typeface="Calibri"/>
              </a:rPr>
              <a:t>긍정 86.7% vs 부정 8.2% vs 중립 5.1%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55A6E"/>
                </a:solidFill>
                <a:latin typeface="Calibri"/>
              </a:rPr>
              <a:t>→ 그냥 다 긍정 찍어도 86% 정확도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5349240"/>
            <a:ext cx="40690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해결 → 부정/중립 전량 + 긍정은 2배 규모로만 다운샘플링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구현하며 AI를 어떻게 활용했나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577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50">
                <a:solidFill>
                  <a:srgbClr val="FFFFFF"/>
                </a:solidFill>
                <a:latin typeface="Calibri"/>
              </a:rPr>
              <a:t>•  Claude Code로 전처리 스크립트·모델 코드·Streamlit 앱을 페어 프로그래밍 방식으로 작성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FFFFFF"/>
                </a:solidFill>
                <a:latin typeface="Calibri"/>
              </a:rPr>
              <a:t>•  데이터 검증(rating vs sentiment 크로스탭)을 코드로 직접 돌려 라벨 불일치를 수치로 확인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FFFFFF"/>
                </a:solidFill>
                <a:latin typeface="Calibri"/>
              </a:rPr>
              <a:t>•  환경 제약(PyTorch 미설치)을 만났을 때 대체 구현 방향을 같이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371600"/>
            <a:ext cx="5120640" cy="4846320"/>
          </a:xfrm>
          <a:prstGeom prst="roundRect">
            <a:avLst>
              <a:gd name="adj" fmla="val 4000"/>
            </a:avLst>
          </a:prstGeom>
          <a:solidFill>
            <a:srgbClr val="283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64592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96167"/>
                </a:solidFill>
                <a:latin typeface="Calibri"/>
              </a:rPr>
              <a:t>예상치 못한 벽: PyTorch 설치 실패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286000"/>
            <a:ext cx="43891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환경의 Python이 3.14라서 PyTorch/TensorFlow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휠이 아직 배포되지 않음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→ pip install torch: No matching distribution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해결: 신경망 프레임워크 없이 numpy로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순전파·역전파를 직접 구현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결과적으로 "신경망이 어떻게 학습되는지"를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더 명확하게 설명할 수 있는 발표 소재가 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Georgia"/>
              </a:rPr>
              <a:t>DL 모델 — numpy로 직접 구현한 신경망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554480"/>
            <a:ext cx="2331720" cy="1554480"/>
          </a:xfrm>
          <a:prstGeom prst="roundRect">
            <a:avLst>
              <a:gd name="adj" fmla="val 8000"/>
            </a:avLst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E2761"/>
                </a:solidFill>
              </a:rPr>
              <a:t>입력</a:t>
            </a:r>
          </a:p>
          <a:p>
            <a:pPr algn="ctr"/>
            <a:r>
              <a:rPr sz="1400" b="1">
                <a:solidFill>
                  <a:srgbClr val="1E2761"/>
                </a:solidFill>
              </a:rPr>
              <a:t>TF-IDF</a:t>
            </a:r>
          </a:p>
          <a:p>
            <a:pPr algn="ctr"/>
            <a:r>
              <a:rPr sz="1400" b="1">
                <a:solidFill>
                  <a:srgbClr val="1E2761"/>
                </a:solidFill>
              </a:rPr>
              <a:t>20,000차원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72968" y="2221991"/>
            <a:ext cx="329184" cy="219456"/>
          </a:xfrm>
          <a:prstGeom prst="rightArrow">
            <a:avLst/>
          </a:prstGeom>
          <a:solidFill>
            <a:srgbClr val="555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20439" y="1554480"/>
            <a:ext cx="2331720" cy="155448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Dense 128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ReLU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70447" y="2221991"/>
            <a:ext cx="329184" cy="219456"/>
          </a:xfrm>
          <a:prstGeom prst="rightArrow">
            <a:avLst/>
          </a:prstGeom>
          <a:solidFill>
            <a:srgbClr val="555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2331720" cy="155448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Dense 64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ReLU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567928" y="2221991"/>
            <a:ext cx="329184" cy="219456"/>
          </a:xfrm>
          <a:prstGeom prst="rightArrow">
            <a:avLst/>
          </a:prstGeom>
          <a:solidFill>
            <a:srgbClr val="555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15400" y="1554480"/>
            <a:ext cx="2331720" cy="1554480"/>
          </a:xfrm>
          <a:prstGeom prst="roundRect">
            <a:avLst>
              <a:gd name="adj" fmla="val 8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Dense 3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Softmax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747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학습 방식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886200"/>
            <a:ext cx="5120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21295C"/>
                </a:solidFill>
                <a:latin typeface="Calibri"/>
              </a:rPr>
              <a:t>•  Mini-batch SGD + Momentum(0.9), L2 정규화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1295C"/>
                </a:solidFill>
                <a:latin typeface="Calibri"/>
              </a:rPr>
              <a:t>•  learning rate 0.08 → epoch마다 0.92배 감소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1295C"/>
                </a:solidFill>
                <a:latin typeface="Calibri"/>
              </a:rPr>
              <a:t>•  batch size 256, 15 epoch, 학습시간 약 132초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1295C"/>
                </a:solidFill>
                <a:latin typeface="Calibri"/>
              </a:rPr>
              <a:t>•  scipy sparse(TF-IDF) × dense 가중치 행렬곱을
backprop 수식에 맞춰 직접 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34747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데이터 규모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88620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21295C"/>
                </a:solidFill>
                <a:latin typeface="Calibri"/>
              </a:rPr>
              <a:t>•  학습 데이터: 136,150건 (밸런싱 후)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1295C"/>
                </a:solidFill>
                <a:latin typeface="Calibri"/>
              </a:rPr>
              <a:t>•  검증 데이터: 24,026건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1295C"/>
                </a:solidFill>
                <a:latin typeface="Calibri"/>
              </a:rPr>
              <a:t>•  원본 통합 데이터: 538,774건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5120640"/>
            <a:ext cx="5120640" cy="1280160"/>
          </a:xfrm>
          <a:prstGeom prst="roundRect">
            <a:avLst>
              <a:gd name="adj" fmla="val 8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5212080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55A6E"/>
                </a:solidFill>
                <a:latin typeface="Calibri"/>
              </a:rPr>
              <a:t>관찰: epoch 4 근처(acc 0.781) 이후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55A6E"/>
                </a:solidFill>
                <a:latin typeface="Calibri"/>
              </a:rPr>
              <a:t>train loss는 계속 감소하지만 test acc는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55A6E"/>
                </a:solidFill>
                <a:latin typeface="Calibri"/>
              </a:rPr>
              <a:t>진동/하락 → 과적합 신호를 직접 확인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Georgia"/>
              </a:rPr>
              <a:t>ML vs DL 결과 비교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0080" y="1463040"/>
          <a:ext cx="58521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0" y="15544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공통적으로 어려운 클래스: 중립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057400"/>
            <a:ext cx="4846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21295C"/>
                </a:solidFill>
                <a:latin typeface="Calibri"/>
              </a:rPr>
              <a:t>•  ML neutral F1: 0.45  /  DL neutral F1: 0.37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1295C"/>
                </a:solidFill>
                <a:latin typeface="Calibri"/>
              </a:rPr>
              <a:t>•  중립(별점 3점)은 텍스트 신호 자체가 모호한
근본적으로 어려운 라벨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1295C"/>
                </a:solidFill>
                <a:latin typeface="Calibri"/>
              </a:rPr>
              <a:t>•  가벼운 ML이 매크로 F1 기준 더 안정적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21295C"/>
                </a:solidFill>
                <a:latin typeface="Calibri"/>
              </a:rPr>
              <a:t>•  신경망은 정확도는 약간 높지만 과적합 경향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30352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96167"/>
                </a:solidFill>
                <a:latin typeface="Calibri"/>
              </a:rPr>
              <a:t>결론: 단순 TF-IDF 특징에서는 모델 복잡도보다 데이터 라벨 품질이 성능을 더 좌우했다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Georgia"/>
              </a:rPr>
              <a:t>Streamlit 서비스 — BeautyScope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🔍 감성 분석 데모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3172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리뷰 텍스트 입력 → ML/DL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동시 예측 + 확률 시각화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55448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📊 데이터 대시보드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33172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플랫폼/별점/트렌드/카테고리별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분포, 부정·긍정 다빈도 키워드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155448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78308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ℹ️ 프로젝트 소개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33172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데이터 규모, 모델 성능,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DEVLOG 링크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31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동작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389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95C"/>
                </a:solidFill>
                <a:latin typeface="Calibri"/>
              </a:rPr>
              <a:t>•  로컬 환경에서 streamlit run app.py 실행 → HTTP 200 응답 확인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1295C"/>
                </a:solidFill>
                <a:latin typeface="Calibri"/>
              </a:rPr>
              <a:t>•  예시 리뷰 "향이 너무 강하고 트러블 났어요" 입력 → ML/DL 모두 negative(부정) 예측 일치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1295C"/>
                </a:solidFill>
                <a:latin typeface="Calibri"/>
              </a:rPr>
              <a:t>•  예시 리뷰 "촉촉하고 흡수도 잘 되고 좋아요" 입력 → ML/DL 모두 positive(긍정) 예측 일치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Georgia"/>
              </a:rPr>
              <a:t>배포 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95C"/>
                </a:solidFill>
                <a:latin typeface="Calibri"/>
              </a:rPr>
              <a:t>•  requirements.txt로 의존성 고정 (scikit-learn, streamlit, pandas, numpy, scipy, joblib)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1295C"/>
                </a:solidFill>
                <a:latin typeface="Calibri"/>
              </a:rPr>
              <a:t>•  학습된 모델(tfidf_vectorizer.joblib, ml_logreg.joblib, dl_ffnn.npz) 리포에 포함
→ 재학습 없이 바로 서비스 구동 가능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1295C"/>
                </a:solidFill>
                <a:latin typeface="Calibri"/>
              </a:rPr>
              <a:t>•  538,774건 원본 대신 사전 집계 CSV(agg_*.csv)를 대시보드가 읽도록 분리 → 로딩 속도 개선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1295C"/>
                </a:solidFill>
                <a:latin typeface="Calibri"/>
              </a:rPr>
              <a:t>•  대용량 원본 크롤링 CSV는 .gitignore 처리, 정제된 merged_reviews_all.csv만 추적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5029200"/>
            <a:ext cx="10881360" cy="1188720"/>
          </a:xfrm>
          <a:prstGeom prst="roundRect">
            <a:avLst>
              <a:gd name="adj" fmla="val 8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25780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55A6E"/>
                </a:solidFill>
                <a:latin typeface="Calibri"/>
              </a:rPr>
              <a:t>다음 과제: 대용량 데이터 Git LFS/외부 스토리지 연동, early stopping으로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55A6E"/>
                </a:solidFill>
                <a:latin typeface="Calibri"/>
              </a:rPr>
              <a:t>DL 과적합 개선, klue/bert 등 사전학습 모델 파인튜닝(GPU/호환 Python 환경 확보 시)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Georgia"/>
              </a:rPr>
              <a:t>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3개 플랫폼 538,774건 데이터를 통일된 기준으로 통합 (가장 큰 난관: 라벨 기준 불일치)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환경 제약(PyTorch 미설치)에 막혔지만 numpy로 신경망을 직접 구현해 ML/DL을 비교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ML accuracy 0.738 / DL accuracy 0.762 — 모델보다 데이터 라벨 품질이 핵심이었다는 결론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Streamlit으로 감성 분석 데모 + 데이터 대시보드를 구현하고 동작까지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96167"/>
                </a:solidFill>
                <a:latin typeface="Georgia"/>
              </a:rPr>
              <a:t>BeautyScope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