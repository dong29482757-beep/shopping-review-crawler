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보정 전</c:v>
                </c:pt>
              </c:strCache>
            </c:strRef>
          </c:tx>
          <c:spPr>
            <a:solidFill>
              <a:srgbClr val="6B7280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0.806</c:v>
                </c:pt>
                <c:pt idx="1">
                  <c:v>0.626</c:v>
                </c:pt>
                <c:pt idx="2">
                  <c:v>0.89</c:v>
                </c:pt>
                <c:pt idx="3">
                  <c:v>0.712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보정 후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0.675</c:v>
                </c:pt>
                <c:pt idx="2">
                  <c:v>0.92</c:v>
                </c:pt>
                <c:pt idx="3">
                  <c:v>0.711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D8DEF0"/>
                </a:solidFill>
                <a:latin typeface="Calibri"/>
              </a:rPr>
              <a:t>화장품 리뷰 538,774건 기반 감성 분석 + 속성기반 상품 리포트 서비스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9768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429768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4297680"/>
            <a:ext cx="192024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 분석 (ABSA)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0" y="429768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서비스 설계 의도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평점 하나로 합쳐서 보여주면 속성별 차이가 묻힌다 — 그래서 속성 단위로 쪼개서 분석하는 구조로 설계했다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5212080" cy="24688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64008" cy="246888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1945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크리스마 더마랩 토너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651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평점 4.55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1089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보습/수분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6764" y="31089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80.5%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트러블/자극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6764" y="35661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23.3%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212080" cy="24688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64008" cy="246888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945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닥터지 에이클리어 밸런싱 토너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51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B7280"/>
                </a:solidFill>
                <a:latin typeface="Calibri"/>
              </a:rPr>
              <a:t>평점 4.78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089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보습/수분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4604" y="31089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81.5%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566160"/>
            <a:ext cx="28666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1295C"/>
                </a:solidFill>
                <a:latin typeface="Calibri"/>
              </a:rPr>
              <a:t>트러블/자극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4604" y="3566160"/>
            <a:ext cx="2084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85A4D"/>
                </a:solidFill>
                <a:latin typeface="Calibri"/>
              </a:rPr>
              <a:t>긍정 40.5%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평점 차이는 0.2점뿐인데, 트러블/자극 속성의 긍정비율은 23.3%와 40.5%로 약 2배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리뷰어가 중요하게 보는 속성은 사람마다 다르다 (보습/트러블/향 등)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→ 평점이 아니라 속성 단위로 데이터를 분해해 보여주는 것을 서비스의 핵심 구조로 잡았다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수집 — 장점과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" cy="1417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86,379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쿠팡 (1차)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64008" cy="1417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1E2761"/>
                </a:solidFill>
                <a:latin typeface="Calibri"/>
              </a:rPr>
              <a:t>452,395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+ 무신사·올리브영 (2차)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71600"/>
            <a:ext cx="3520440" cy="14173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371600"/>
            <a:ext cx="64008" cy="141732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1463040"/>
            <a:ext cx="3154680" cy="737006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B85A4D"/>
                </a:solidFill>
                <a:latin typeface="Calibri"/>
              </a:rPr>
              <a:t>538,774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200046"/>
            <a:ext cx="3154680" cy="451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6B7280"/>
                </a:solidFill>
                <a:latin typeface="Calibri"/>
              </a:rPr>
              <a:t>최종 통합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108960"/>
            <a:ext cx="5303520" cy="30175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64008" cy="30175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761"/>
                </a:solidFill>
                <a:latin typeface="Calibri"/>
              </a:rPr>
              <a:t>장점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94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별점이 곧 라벨이 됨 — 4~5점 긍정, 3점 중립, 1~2점 부정으로 바로
분류에 쓸 수 있어 별도 수작업 레이블링이 필요 없음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화장품 도메인 특화 + 2015~2026년 10년치 데이터로 트렌드 분석도 가능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20개+ 카테고리 × 8개 속성으로 비교 분석 가능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108960"/>
            <a:ext cx="5303520" cy="301752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108960"/>
            <a:ext cx="64008" cy="301752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761"/>
                </a:solidFill>
                <a:latin typeface="Calibri"/>
              </a:rPr>
              <a:t>한계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94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별점 기반 라벨링의 전제는 "별점 = 진짜 만족도"인데, 실제로는
별점과 리뷰 내용이 안 맞는 경우가 있음 (오기입·과장 등)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독립적인 텍스트 기반 분석과 비교했을 때, 별점 5점 리뷰 중 21%가
실제로는 부정적 내용으로 분류됨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→ 라벨 노이즈가 일정 비율 존재한다는 한계를 인지하고 진행
(완전히 제거하지 않고, 모델 평가 단계에서 별도로 검증)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쿠팡 크롤링 — 봇 탐지를 어떻게 뚫었나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D8DEF0"/>
                </a:solidFill>
                <a:latin typeface="Calibri"/>
              </a:rPr>
              <a:t>쿠팡은 Akamai 봇 탐지 시스템이 5단계로 "사람인지 로봇인지" 검사한다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03520" cy="4206240"/>
          </a:xfrm>
          <a:prstGeom prst="rect">
            <a:avLst/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문제 — 왜 막혔나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requests로 접속 → 헤더만 보고 1단계에서 바로 차단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Selenium으로 접속 → "자동화 도구" 흔적이 들켜서
3단계에서 차단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마우스·스크롤 없이 너무 빠르게 요청하면
행동 패턴에서 차단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03520" cy="4206240"/>
          </a:xfrm>
          <a:prstGeom prst="rect">
            <a:avLst/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해결 — "진짜 손님" 행세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가짜 브라우저 대신, 내 컴퓨터의 실제 Chrome을
그대로 원격 연결해서 사용 (Playwright + CDP)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검색창에 키워드를 한 글자씩 타이핑
(URL로 바로 안 들어감)</a:t>
            </a:r>
          </a:p>
          <a:p>
            <a:pPr>
              <a:spcAft>
                <a:spcPts val="1400"/>
              </a:spcAft>
            </a:pPr>
            <a:r>
              <a:rPr sz="1350">
                <a:solidFill>
                  <a:srgbClr val="D8DEF0"/>
                </a:solidFill>
                <a:latin typeface="Calibri"/>
              </a:rPr>
              <a:t>•  상품 사이 랜덤 대기, 가끔 쿠팡 홈으로 돌아가
쉬기 — 사람처럼 행동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D8DEF0"/>
                </a:solidFill>
                <a:latin typeface="Calibri"/>
              </a:rPr>
              <a:t>핵심: 자동화 도구를 새로 띄우는 게 아니라, 이미 로그인된 실제 브라우저에 "숟가락만 얹는" 방식이라 자동화 흔적 자체가 없다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Georgia"/>
              </a:rPr>
              <a:t>데이터 준비 — 무엇이 문제였고 어떻게 풀었나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6420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긍정 리뷰가 너무 많음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27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92024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전체 리뷰의 87%가 긍정이라, 모델이 아무 생각 없이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"다 긍정"이라고만 찍어도 87% 맞는 셈이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27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92024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부정·중립 리뷰는 그대로 두고, 긍정 리뷰만 솎아내서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세 감성의 비율을 맞춤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31012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문장이 토막 나서 분석됨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6616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리뷰를 한글자씩/공백 기준으로만 잘라서 "좋아요"와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"좋아서"를 완전히 다른 단어로 인식함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56616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형태소 분석기로 단어의 "원래 형태"를 찾아내고,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의미 없는 조사·어미와 불필요한 단어를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54880"/>
            <a:ext cx="10881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754880"/>
            <a:ext cx="64008" cy="150876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56048"/>
            <a:ext cx="2834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같은 리뷰가 중복 수집됨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문제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212080"/>
            <a:ext cx="3291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크롤링을 여러 번 나눠서 진행하다 보니 같은 리뷰가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두 번 이상 수집된 경우가 있었음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5A4D"/>
                </a:solidFill>
                <a:latin typeface="Calibri"/>
              </a:rPr>
              <a:t>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212080"/>
            <a:ext cx="39319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상품·작성자·날짜·내용이 모두 같은 리뷰를 중복으로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Calibri"/>
              </a:rPr>
              <a:t>판단해 제거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모델 — 4가지를 비교했다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리뷰 텍스트를 긍정/중립/부정으로 분류하는 모델을 단순한 것부터 복잡한 것까지 비교했다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15544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모델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역할 / 강점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 anchor="ctr" marL="109728" marR="109728" marT="45720" marB="45720"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ML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(TF-IDF+로지스틱회귀)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가장 가볍고 빠름 — 실서비스 기본 모델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0.909*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0.675*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DL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(신경망)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비선형 패턴까지 학습 — ML보다 정확도 소폭 우위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0.920*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0.711*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문장 순서를 학습 — 이 데이터에서는 추가 이득 없음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0.734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anchor="ctr"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KoELECTRA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(사전학습 모델)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적은 데이터로도 가장 높은 정확도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0.772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1295C"/>
                          </a:solidFill>
                          <a:latin typeface="Calibri"/>
                        </a:rPr>
                        <a:t>0.660</a:t>
                      </a:r>
                    </a:p>
                  </a:txBody>
                  <a:tcPr anchor="ctr" marL="109728" marR="109728" marT="45720" marB="45720"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* ML/DL은 실제 서비스 운영 분포로 보정한 수치 (학습 시 다운샘플링한 분포와 실제 비율이 달라서 보정함)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03520"/>
            <a:ext cx="10881360" cy="109728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303520"/>
            <a:ext cx="64008" cy="10972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E2761"/>
                </a:solidFill>
                <a:latin typeface="Calibri"/>
              </a:rPr>
              <a:t>결론: 4개 모델 모두 90% 안팎까지 끌어올렸고, 사전학습 모델이 가장 적은 데이터로도 가장 높은 성능을 냈다. 실제 서비스에는 가볍고 빠른 ML/DL을 우선 적용했다.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Georgia"/>
              </a:rPr>
              <a:t>모델 문제 발견 → 해결 → 지금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64008" cy="228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① 발견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학습 시 다운샘플링한 비율과 실제 운영 비율(긍정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86.7%)이 달라서, 실제 분포로 다시 평가하니 모델이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"중립"이라고 예측한 것 중 80%가 틀렸음 (label shift)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64008" cy="228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② 해결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모델을 다시 학습하지 않고, 추론 결과에 "학습 비율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↔ 실제 비율" 차이를 곱해 확률을 보정하는 방식으로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빠르게 개선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463040"/>
            <a:ext cx="3520440" cy="2286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463040"/>
            <a:ext cx="64008" cy="2286000"/>
          </a:xfrm>
          <a:prstGeom prst="rect">
            <a:avLst/>
          </a:prstGeom>
          <a:solidFill>
            <a:srgbClr val="B85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6916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③ 지금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1945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ML accuracy 0.806→0.909, DL accuracy 0.890→0.920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Calibri"/>
              </a:rPr>
              <a:t>으로 개선 — 재학습 없이도 실사용 가능한 수준 확보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645920" y="4023360"/>
          <a:ext cx="88696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